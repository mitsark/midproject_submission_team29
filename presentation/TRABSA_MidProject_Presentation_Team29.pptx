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solidFill>
            <a:srgbClr val="091E3E"/>
          </a:solidFill>
          <a:ln w="12700">
            <a:solidFill>
              <a:srgbClr val="091E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194560" cy="320040"/>
          </a:xfrm>
          <a:prstGeom prst="rect">
            <a:avLst>
              <a:gd name="adj" fmla="val 14286"/>
            </a:avLst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MID-PROJECT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Sentiment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with TRABSA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Attention BiLSTM Sentiment Analysis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8412480" cy="27432"/>
          </a:xfrm>
          <a:prstGeom prst="rect">
            <a:avLst/>
          </a:prstGeom>
          <a:solidFill>
            <a:srgbClr val="3D7DC8">
              <a:alpha val="60000"/>
            </a:srgbClr>
          </a:solidFill>
          <a:ln w="12700">
            <a:solidFill>
              <a:srgbClr val="3D7DC8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83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3383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27, 2026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411480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4114800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posts on social media often express varying emotional intensities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Automated classification into 7 categories — Anxiety, Depression, Bipolar, Normal, Personality Disorder, Stress, Suicidal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Long, context-dependent text with subtle emotional cues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Achieve &gt;80% accuracy on the test 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40680" y="7772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&amp; Text Length Analysis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1078992"/>
            <a:ext cx="3566160" cy="2377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94960" y="3584448"/>
            <a:ext cx="1664208" cy="868680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94960" y="3584448"/>
            <a:ext cx="166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52,681</a:t>
            </a:r>
            <a:endParaRPr lang="en-US" sz="2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posts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168896" y="3584448"/>
            <a:ext cx="1792224" cy="868680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68896" y="3584448"/>
            <a:ext cx="17922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classes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TRABSA Model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69080" cy="40233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4023360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96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777240" cy="320040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98448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long-range context &amp; semantic meaning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777240" cy="320040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756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98448" y="20756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important words for mental health sentiment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777240" cy="320040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2549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98448" y="28254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bidirectional dependencies in emotional language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75304"/>
            <a:ext cx="777240" cy="320040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753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Head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98448" y="35753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learned representations to 7 classes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822960"/>
            <a:ext cx="4297680" cy="40233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822960"/>
            <a:ext cx="54864" cy="4023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896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Breakdown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325880"/>
            <a:ext cx="68580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3258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32120" y="1325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Base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1508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125M params · final layer extraction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075688"/>
            <a:ext cx="68580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0756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32120" y="207568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Attention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32120" y="22585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heads · 768→512 dimension reduction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825496"/>
            <a:ext cx="68580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825496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32120" y="282549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32120" y="300837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hidden_dim=128 · 1 layer · bidirectional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575304"/>
            <a:ext cx="68580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57530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32120" y="35753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32120" y="37581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256→128→7 classes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4343400"/>
            <a:ext cx="4023360" cy="384048"/>
          </a:xfrm>
          <a:prstGeom prst="rect">
            <a:avLst/>
          </a:prstGeom>
          <a:solidFill>
            <a:srgbClr val="091E3E"/>
          </a:solidFill>
          <a:ln w="12700">
            <a:solidFill>
              <a:srgbClr val="091E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343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Parameters: ~46M  ·  RoBERTa base frozen  ·  Tesla T4 GPU (Google Colab)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Results: 8 Epochs on Full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416052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4160520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996696"/>
            <a:ext cx="1234440" cy="256032"/>
          </a:xfrm>
          <a:prstGeom prst="rect">
            <a:avLst/>
          </a:prstGeom>
          <a:solidFill>
            <a:srgbClr val="22A060">
              <a:alpha val="12000"/>
            </a:srgbClr>
          </a:solidFill>
          <a:ln w="12700">
            <a:solidFill>
              <a:srgbClr val="22A06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9966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533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 (LR+TF-IDF)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1389888"/>
            <a:ext cx="1234440" cy="256032"/>
          </a:xfrm>
          <a:prstGeom prst="rect">
            <a:avLst/>
          </a:prstGeom>
          <a:solidFill>
            <a:srgbClr val="4A5568">
              <a:alpha val="12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3898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4650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1783080"/>
            <a:ext cx="1234440" cy="256032"/>
          </a:xfrm>
          <a:prstGeom prst="rect">
            <a:avLst/>
          </a:prstGeom>
          <a:solidFill>
            <a:srgbClr val="3D7DC8">
              <a:alpha val="12000"/>
            </a:srgbClr>
          </a:solidFill>
          <a:ln w="12700">
            <a:solidFill>
              <a:srgbClr val="3D7DC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783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 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1396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2176272"/>
            <a:ext cx="1234440" cy="256032"/>
          </a:xfrm>
          <a:prstGeom prst="rect">
            <a:avLst/>
          </a:prstGeom>
          <a:solidFill>
            <a:srgbClr val="0F2D5C">
              <a:alpha val="12000"/>
            </a:srgbClr>
          </a:solidFill>
          <a:ln w="12700">
            <a:solidFill>
              <a:srgbClr val="0F2D5C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176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52,681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5328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2569464"/>
            <a:ext cx="1234440" cy="256032"/>
          </a:xfrm>
          <a:prstGeom prst="rect">
            <a:avLst/>
          </a:prstGeom>
          <a:solidFill>
            <a:srgbClr val="0F2D5C">
              <a:alpha val="12000"/>
            </a:srgbClr>
          </a:solidFill>
          <a:ln w="12700">
            <a:solidFill>
              <a:srgbClr val="0F2D5C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569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9260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2962656"/>
            <a:ext cx="1234440" cy="256032"/>
          </a:xfrm>
          <a:prstGeom prst="rect">
            <a:avLst/>
          </a:prstGeom>
          <a:solidFill>
            <a:srgbClr val="0F2D5C">
              <a:alpha val="12000"/>
            </a:srgbClr>
          </a:solidFill>
          <a:ln w="12700">
            <a:solidFill>
              <a:srgbClr val="0F2D5C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9626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 (GPU)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319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Epoch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0" y="3355848"/>
            <a:ext cx="1234440" cy="256032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355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712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0" y="3749040"/>
            <a:ext cx="1234440" cy="256032"/>
          </a:xfrm>
          <a:prstGeom prst="rect">
            <a:avLst/>
          </a:prstGeom>
          <a:solidFill>
            <a:srgbClr val="0F2D5C">
              <a:alpha val="12000"/>
            </a:srgbClr>
          </a:solidFill>
          <a:ln w="12700">
            <a:solidFill>
              <a:srgbClr val="0F2D5C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37490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@ Epoch 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777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&amp; Validation Accuracy over 8 Epochs</a:t>
            </a:r>
            <a:endParaRPr lang="en-US" sz="10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097280"/>
            <a:ext cx="448056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TRABSA vs. Baseline: Head-to-Head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1508760"/>
          </a:xfrm>
          <a:prstGeom prst="rect">
            <a:avLst/>
          </a:prstGeom>
          <a:solidFill>
            <a:srgbClr val="8A99B0"/>
          </a:solidFill>
          <a:ln w="12700">
            <a:solidFill>
              <a:srgbClr val="8A99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170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TF-IDF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17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interpretable, good baseline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7190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74.2% Accuracy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54864" cy="1508760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TRABSA Model  ✓ WINNER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1170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Attention + BiLSTM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56048" y="1417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deep semantic &amp; contextual patterns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6048" y="17190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81.3% Accuracy  (+7.1 pp)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60520" y="1097280"/>
            <a:ext cx="640080" cy="640080"/>
          </a:xfrm>
          <a:prstGeom prst="ellipse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450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F1-Score Comparison Across Both Models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0" y="2697480"/>
            <a:ext cx="512064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Succeed &amp; Struggle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TRABSA Confusion Matrix (Test Set)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438912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822960"/>
            <a:ext cx="4069080" cy="187452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822960"/>
            <a:ext cx="54864" cy="1874520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74920" y="886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74920" y="1234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&amp; Depression: 85%+ accuracy (most common classes)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88% recall — clear distinction from health posts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2834640"/>
            <a:ext cx="4069080" cy="132588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834640"/>
            <a:ext cx="54864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2907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for Improvement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74920" y="32186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Suicidal vs. Stress: Confusion due to shared urgency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Disorder: Lower recall (~2% of dataset)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4251960"/>
            <a:ext cx="4069080" cy="658368"/>
          </a:xfrm>
          <a:prstGeom prst="rect">
            <a:avLst/>
          </a:prstGeom>
          <a:solidFill>
            <a:srgbClr val="EAF2FF"/>
          </a:solidFill>
          <a:ln w="12700">
            <a:solidFill>
              <a:srgbClr val="C8DC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4279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4507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&amp; BiLSTM+GloVe baselines (Phase 2)  ·  SHAP &amp; LIME explainability (Phase 5)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&amp; Reproducible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16052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4160520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96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Measures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08176"/>
            <a:ext cx="219456" cy="219456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08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353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seeds (PyTorch, NumPy, random)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938528"/>
            <a:ext cx="219456" cy="219456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38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188366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train/val/test split (class balance preserved)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219456" cy="219456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68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241401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dependencies pinned in requirements.txt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999232"/>
            <a:ext cx="219456" cy="219456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29443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device specification (GPU/CPU fallback)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529584"/>
            <a:ext cx="219456" cy="219456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29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4747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suite validates all pipeline components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059936"/>
            <a:ext cx="219456" cy="219456"/>
          </a:xfrm>
          <a:prstGeom prst="rect">
            <a:avLst/>
          </a:prstGeom>
          <a:solidFill>
            <a:srgbClr val="22A060"/>
          </a:solidFill>
          <a:ln w="12700">
            <a:solidFill>
              <a:srgbClr val="22A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400507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hosted with all artifacts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822960"/>
            <a:ext cx="4114800" cy="416052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822960"/>
            <a:ext cx="54864" cy="4160520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896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Testing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83480" y="1408176"/>
            <a:ext cx="219456" cy="219456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408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85232" y="1353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test set (15%, unseen during training)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1938528"/>
            <a:ext cx="219456" cy="219456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938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85232" y="188366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 (handles class imbalance)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2468880"/>
            <a:ext cx="219456" cy="219456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468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85232" y="241401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scheduler (adaptive learning)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2999232"/>
            <a:ext cx="219456" cy="219456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85232" y="29443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(prevents overfitting)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83480" y="3529584"/>
            <a:ext cx="219456" cy="219456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529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85232" y="34747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contextualizes 81.3% accuracy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83480" y="4059936"/>
            <a:ext cx="219456" cy="219456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85232" y="400507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splits across all 7 classes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7DC8"/>
          </a:solidFill>
          <a:ln w="12700">
            <a:solidFill>
              <a:srgbClr val="3D7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Path Forward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2651760" cy="3291840"/>
          </a:xfrm>
          <a:prstGeom prst="rect">
            <a:avLst/>
          </a:prstGeom>
          <a:solidFill>
            <a:srgbClr val="1A4A8C"/>
          </a:solidFill>
          <a:ln w="12700">
            <a:solidFill>
              <a:srgbClr val="3D7DC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Accomplished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✓  Data pipeline on 52,681 posts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✓  Full 4-stage TRABSA trained &amp; validated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✓  Class weights, early stopping, LR scheduling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(partial) ✓  Metrics, confusion matrix, comparison charts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841248"/>
            <a:ext cx="2651760" cy="3291840"/>
          </a:xfrm>
          <a:prstGeom prst="rect">
            <a:avLst/>
          </a:prstGeom>
          <a:solidFill>
            <a:srgbClr val="1A4A8C"/>
          </a:solidFill>
          <a:ln w="12700">
            <a:solidFill>
              <a:srgbClr val="3D7DC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914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37160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+ Vanilla BiLSTM (GloVe) baselines — Phase 2 completion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LIME explainability — Phase 5 completion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2-layer BiLSTM variant vs current 1-layer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additional minority-class mitigation experiments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841248"/>
            <a:ext cx="2651760" cy="3291840"/>
          </a:xfrm>
          <a:prstGeom prst="rect">
            <a:avLst/>
          </a:prstGeom>
          <a:solidFill>
            <a:srgbClr val="3D7DC8"/>
          </a:solidFill>
          <a:ln w="12700">
            <a:solidFill>
              <a:srgbClr val="C8DCF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914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389888"/>
            <a:ext cx="23774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 achieved: TRABSA adapted and validated for 7-class mental health classification at 81.3% accuracy.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(LinearSVC baseline, SHAP/LIME) are final-phase enhancements — not blockers. Project is ~80% aligned with abstract at mid-review.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3525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29  ·  March 27, 2026  ·  Mental Health Sentiment Classification with TRABSA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Health Sentiment Classification with TRABSA</dc:title>
  <dc:subject>PptxGenJS Presentation</dc:subject>
  <dc:creator>Team 29</dc:creator>
  <cp:lastModifiedBy>Team 29</cp:lastModifiedBy>
  <cp:revision>1</cp:revision>
  <dcterms:created xsi:type="dcterms:W3CDTF">2026-03-27T19:53:15Z</dcterms:created>
  <dcterms:modified xsi:type="dcterms:W3CDTF">2026-03-27T19:53:15Z</dcterms:modified>
</cp:coreProperties>
</file>